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5" r:id="rId3"/>
    <p:sldId id="266" r:id="rId4"/>
    <p:sldId id="267" r:id="rId5"/>
    <p:sldId id="268" r:id="rId6"/>
    <p:sldId id="5021" r:id="rId7"/>
    <p:sldId id="5072" r:id="rId8"/>
    <p:sldId id="5076" r:id="rId9"/>
    <p:sldId id="5073" r:id="rId10"/>
    <p:sldId id="5074" r:id="rId11"/>
    <p:sldId id="5085" r:id="rId12"/>
    <p:sldId id="5077" r:id="rId13"/>
    <p:sldId id="5075" r:id="rId14"/>
    <p:sldId id="5079" r:id="rId15"/>
    <p:sldId id="5080" r:id="rId16"/>
    <p:sldId id="5086" r:id="rId17"/>
    <p:sldId id="5087" r:id="rId18"/>
    <p:sldId id="5088" r:id="rId19"/>
    <p:sldId id="5089" r:id="rId20"/>
    <p:sldId id="5078" r:id="rId21"/>
    <p:sldId id="5082" r:id="rId22"/>
    <p:sldId id="5083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147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3">
            <a:extLst>
              <a:ext uri="{FF2B5EF4-FFF2-40B4-BE49-F238E27FC236}">
                <a16:creationId xmlns:a16="http://schemas.microsoft.com/office/drawing/2014/main" id="{D1ECD697-56BE-C493-707F-BCDC6FE722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CM" b="1" dirty="0"/>
              <a:t>Présentation du Projet RSS  C19RM </a:t>
            </a:r>
            <a:endParaRPr lang="en-US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73AEA-F5B7-C790-628E-D3F7F72F2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CONTEXTE  ET JUSTIFICATIFS 1/3</a:t>
            </a:r>
            <a:endParaRPr lang="fr-CM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C43AB8-1BE4-6EC3-B1CB-BCB9DA5967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88" y="1600200"/>
            <a:ext cx="9015412" cy="4525963"/>
          </a:xfrm>
        </p:spPr>
        <p:txBody>
          <a:bodyPr>
            <a:normAutofit fontScale="92500" lnSpcReduction="20000"/>
          </a:bodyPr>
          <a:lstStyle/>
          <a:p>
            <a:pPr indent="259080" algn="just">
              <a:lnSpc>
                <a:spcPct val="115000"/>
              </a:lnSpc>
              <a:spcAft>
                <a:spcPts val="1000"/>
              </a:spcAft>
              <a:buNone/>
            </a:pPr>
            <a:r>
              <a:rPr lang="fr-FR" sz="3200" kern="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En avril 2021, le Fonds mondial de lutte contre le sida, la tuberculose et le paludisme a lancé la deuxième phase du Mécanisme de riposte à la COVID-19 (C19RM), qui privilégie une série d'initiatives visant à mieux comprendre et atténuer l'impact de la COVID-19 sur les personnes touchées par ces trois maladies, notamment en soutenant les interventions de suivi communautaire (SC).</a:t>
            </a:r>
            <a:endParaRPr lang="fr-CM" sz="28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fr-CM" dirty="0"/>
          </a:p>
        </p:txBody>
      </p:sp>
    </p:spTree>
    <p:extLst>
      <p:ext uri="{BB962C8B-B14F-4D97-AF65-F5344CB8AC3E}">
        <p14:creationId xmlns:p14="http://schemas.microsoft.com/office/powerpoint/2010/main" val="36595776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61091-4FBC-8499-B038-A50937472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25512"/>
          </a:xfrm>
        </p:spPr>
        <p:txBody>
          <a:bodyPr/>
          <a:lstStyle/>
          <a:p>
            <a:r>
              <a:rPr kumimoji="0" lang="fr-FR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CONTEXTE  ET JUSTIFICATIFS 2/3</a:t>
            </a:r>
            <a:endParaRPr lang="fr-CM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B15570-F55C-5B8F-0826-5F358BF7C5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57325"/>
            <a:ext cx="9022080" cy="4914899"/>
          </a:xfrm>
        </p:spPr>
        <p:txBody>
          <a:bodyPr>
            <a:normAutofit/>
          </a:bodyPr>
          <a:lstStyle/>
          <a:p>
            <a:pPr algn="just"/>
            <a:r>
              <a:rPr lang="fr-FR" sz="3200" kern="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Le Programme Soins et Santé (PSS) est la composante communautaire du financement C19RM au Cameroun, dont le Ministère de la Santé est le principal bénéficiaire. </a:t>
            </a:r>
          </a:p>
          <a:p>
            <a:pPr marL="0" indent="0" algn="just">
              <a:buNone/>
            </a:pPr>
            <a:endParaRPr lang="fr-FR" sz="3200" kern="0" dirty="0">
              <a:effectLst/>
              <a:latin typeface="Arial" panose="020B0604020202020204" pitchFamily="34" charset="0"/>
              <a:ea typeface="MS Mincho" panose="02020609040205080304" pitchFamily="49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15906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B74DE-614E-ABC9-FDC1-E4C36DB62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CONTEXTE  ET JUSTIFICATIFS 3/3</a:t>
            </a:r>
            <a:endParaRPr lang="fr-CM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E8BC6D-7A7C-8AB8-07B3-21A78EB7FE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fr-FR" sz="3200" kern="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C’est dans cette optique que CHP qui a été retenu comme le sous récipiendaire  par le </a:t>
            </a:r>
            <a:r>
              <a:rPr lang="fr-FR" sz="3200" kern="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Minsanté</a:t>
            </a:r>
            <a:r>
              <a:rPr lang="fr-FR" sz="3200" kern="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 sera appuyé par </a:t>
            </a:r>
            <a:r>
              <a:rPr lang="fr-FR" kern="0" dirty="0"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40 </a:t>
            </a:r>
            <a:r>
              <a:rPr lang="fr-FR" sz="3200" kern="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OBCs</a:t>
            </a:r>
            <a:r>
              <a:rPr lang="fr-FR" sz="3200" kern="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 rependus  sur tout le territoire national.</a:t>
            </a:r>
          </a:p>
          <a:p>
            <a:pPr marL="0" indent="0" algn="just">
              <a:buNone/>
            </a:pPr>
            <a:endParaRPr lang="fr-FR" sz="3200" kern="0" dirty="0">
              <a:effectLst/>
              <a:latin typeface="Arial" panose="020B0604020202020204" pitchFamily="34" charset="0"/>
              <a:ea typeface="MS Mincho" panose="02020609040205080304" pitchFamily="49" charset="-128"/>
              <a:cs typeface="Arial" panose="020B0604020202020204" pitchFamily="34" charset="0"/>
            </a:endParaRPr>
          </a:p>
          <a:p>
            <a:pPr algn="just"/>
            <a:r>
              <a:rPr lang="fr-FR" kern="0" dirty="0"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APSCA a été retenu dans le cadre de ce projet dans les districts d’</a:t>
            </a:r>
            <a:r>
              <a:rPr lang="fr-FR" kern="0" dirty="0" err="1"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Odza</a:t>
            </a:r>
            <a:r>
              <a:rPr lang="fr-FR" kern="0" dirty="0"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, Biyem Assi, et </a:t>
            </a:r>
            <a:r>
              <a:rPr lang="fr-FR" kern="0" dirty="0" err="1"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Efoulan</a:t>
            </a:r>
            <a:endParaRPr lang="fr-CM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18826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D928D-DAA4-2001-C8A4-D35631576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OBJECTIF GÉNÉRAL </a:t>
            </a:r>
            <a:endParaRPr lang="fr-CM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962B35-CF13-B129-FCB0-4E832FA435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71120" y="1178560"/>
            <a:ext cx="9133840" cy="4947603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altLang="fr-FR" dirty="0" err="1">
                <a:latin typeface="Arial" panose="020B0604020202020204" pitchFamily="34" charset="0"/>
                <a:cs typeface="Arial" panose="020B0604020202020204" pitchFamily="34" charset="0"/>
              </a:rPr>
              <a:t>Renforcer</a:t>
            </a:r>
            <a:r>
              <a:rPr lang="en-US" altLang="fr-FR" dirty="0">
                <a:latin typeface="Arial" panose="020B0604020202020204" pitchFamily="34" charset="0"/>
                <a:cs typeface="Arial" panose="020B0604020202020204" pitchFamily="34" charset="0"/>
              </a:rPr>
              <a:t> la resilience des systems de santé </a:t>
            </a:r>
            <a:r>
              <a:rPr lang="en-US" altLang="fr-FR" dirty="0" err="1">
                <a:latin typeface="Arial" panose="020B0604020202020204" pitchFamily="34" charset="0"/>
                <a:cs typeface="Arial" panose="020B0604020202020204" pitchFamily="34" charset="0"/>
              </a:rPr>
              <a:t>locaux</a:t>
            </a:r>
            <a:r>
              <a:rPr lang="en-US" alt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fr-FR"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alt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fr-FR" dirty="0" err="1">
                <a:latin typeface="Arial" panose="020B0604020202020204" pitchFamily="34" charset="0"/>
                <a:cs typeface="Arial" panose="020B0604020202020204" pitchFamily="34" charset="0"/>
              </a:rPr>
              <a:t>s’appuyant</a:t>
            </a:r>
            <a:r>
              <a:rPr lang="en-US" altLang="fr-FR" dirty="0">
                <a:latin typeface="Arial" panose="020B0604020202020204" pitchFamily="34" charset="0"/>
                <a:cs typeface="Arial" panose="020B0604020202020204" pitchFamily="34" charset="0"/>
              </a:rPr>
              <a:t> sur les capacities des </a:t>
            </a:r>
            <a:r>
              <a:rPr lang="en-US" altLang="fr-FR" dirty="0" err="1">
                <a:latin typeface="Arial" panose="020B0604020202020204" pitchFamily="34" charset="0"/>
                <a:cs typeface="Arial" panose="020B0604020202020204" pitchFamily="34" charset="0"/>
              </a:rPr>
              <a:t>communautés</a:t>
            </a:r>
            <a:r>
              <a:rPr lang="en-US" altLang="fr-FR" dirty="0">
                <a:latin typeface="Arial" panose="020B0604020202020204" pitchFamily="34" charset="0"/>
                <a:cs typeface="Arial" panose="020B0604020202020204" pitchFamily="34" charset="0"/>
              </a:rPr>
              <a:t> pour </a:t>
            </a:r>
            <a:r>
              <a:rPr lang="en-US" altLang="fr-FR" dirty="0" err="1">
                <a:latin typeface="Arial" panose="020B0604020202020204" pitchFamily="34" charset="0"/>
                <a:cs typeface="Arial" panose="020B0604020202020204" pitchFamily="34" charset="0"/>
              </a:rPr>
              <a:t>gérer</a:t>
            </a:r>
            <a:r>
              <a:rPr lang="en-US" altLang="fr-FR" dirty="0">
                <a:latin typeface="Arial" panose="020B0604020202020204" pitchFamily="34" charset="0"/>
                <a:cs typeface="Arial" panose="020B0604020202020204" pitchFamily="34" charset="0"/>
              </a:rPr>
              <a:t> les </a:t>
            </a:r>
            <a:r>
              <a:rPr lang="en-US" altLang="fr-FR" dirty="0" err="1">
                <a:latin typeface="Arial" panose="020B0604020202020204" pitchFamily="34" charset="0"/>
                <a:cs typeface="Arial" panose="020B0604020202020204" pitchFamily="34" charset="0"/>
              </a:rPr>
              <a:t>défis</a:t>
            </a:r>
            <a:r>
              <a:rPr lang="en-US" altLang="fr-FR" dirty="0">
                <a:latin typeface="Arial" panose="020B0604020202020204" pitchFamily="34" charset="0"/>
                <a:cs typeface="Arial" panose="020B0604020202020204" pitchFamily="34" charset="0"/>
              </a:rPr>
              <a:t> sanitaires </a:t>
            </a:r>
            <a:r>
              <a:rPr lang="en-US" altLang="fr-FR" dirty="0" err="1">
                <a:latin typeface="Arial" panose="020B0604020202020204" pitchFamily="34" charset="0"/>
                <a:cs typeface="Arial" panose="020B0604020202020204" pitchFamily="34" charset="0"/>
              </a:rPr>
              <a:t>actuels</a:t>
            </a:r>
            <a:r>
              <a:rPr lang="en-US" altLang="fr-FR" dirty="0"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en-US" altLang="fr-FR" dirty="0" err="1">
                <a:latin typeface="Arial" panose="020B0604020202020204" pitchFamily="34" charset="0"/>
                <a:cs typeface="Arial" panose="020B0604020202020204" pitchFamily="34" charset="0"/>
              </a:rPr>
              <a:t>futurs</a:t>
            </a:r>
            <a:r>
              <a:rPr lang="en-US" altLang="fr-FR" dirty="0">
                <a:latin typeface="Arial" panose="020B0604020202020204" pitchFamily="34" charset="0"/>
                <a:cs typeface="Arial" panose="020B0604020202020204" pitchFamily="34" charset="0"/>
              </a:rPr>
              <a:t>, tout </a:t>
            </a:r>
            <a:r>
              <a:rPr lang="en-US" altLang="fr-FR"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alt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fr-FR" dirty="0" err="1">
                <a:latin typeface="Arial" panose="020B0604020202020204" pitchFamily="34" charset="0"/>
                <a:cs typeface="Arial" panose="020B0604020202020204" pitchFamily="34" charset="0"/>
              </a:rPr>
              <a:t>assurant</a:t>
            </a:r>
            <a:r>
              <a:rPr lang="en-US" alt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fr-FR" dirty="0" err="1">
                <a:latin typeface="Arial" panose="020B0604020202020204" pitchFamily="34" charset="0"/>
                <a:cs typeface="Arial" panose="020B0604020202020204" pitchFamily="34" charset="0"/>
              </a:rPr>
              <a:t>une</a:t>
            </a:r>
            <a:r>
              <a:rPr lang="en-US" altLang="fr-FR" dirty="0">
                <a:latin typeface="Arial" panose="020B0604020202020204" pitchFamily="34" charset="0"/>
                <a:cs typeface="Arial" panose="020B0604020202020204" pitchFamily="34" charset="0"/>
              </a:rPr>
              <a:t> response </a:t>
            </a:r>
            <a:r>
              <a:rPr lang="en-US" altLang="fr-FR" dirty="0" err="1">
                <a:latin typeface="Arial" panose="020B0604020202020204" pitchFamily="34" charset="0"/>
                <a:cs typeface="Arial" panose="020B0604020202020204" pitchFamily="34" charset="0"/>
              </a:rPr>
              <a:t>efficace</a:t>
            </a:r>
            <a:r>
              <a:rPr lang="en-US" altLang="fr-FR" dirty="0">
                <a:latin typeface="Arial" panose="020B0604020202020204" pitchFamily="34" charset="0"/>
                <a:cs typeface="Arial" panose="020B0604020202020204" pitchFamily="34" charset="0"/>
              </a:rPr>
              <a:t> et durable aux epidemies et aux urgences sanitaires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fr-CM" dirty="0"/>
          </a:p>
        </p:txBody>
      </p:sp>
    </p:spTree>
    <p:extLst>
      <p:ext uri="{BB962C8B-B14F-4D97-AF65-F5344CB8AC3E}">
        <p14:creationId xmlns:p14="http://schemas.microsoft.com/office/powerpoint/2010/main" val="1419779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D82FBCD-6FAD-CF09-1C4C-97BCDCCFD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762" y="242034"/>
            <a:ext cx="8135268" cy="511107"/>
          </a:xfrm>
          <a:noFill/>
        </p:spPr>
        <p:txBody>
          <a:bodyPr>
            <a:noAutofit/>
          </a:bodyPr>
          <a:lstStyle/>
          <a:p>
            <a:pPr algn="ctr"/>
            <a:r>
              <a:rPr lang="fr-FR" sz="4000" b="1" dirty="0">
                <a:ea typeface="Calibri" panose="020F0502020204030204" pitchFamily="34" charset="0"/>
                <a:cs typeface="Calibri" panose="020F0502020204030204" pitchFamily="34" charset="0"/>
              </a:rPr>
              <a:t>Objectifs spécifiques  1/2 </a:t>
            </a:r>
            <a:endParaRPr lang="fr-CM" sz="4000" b="1" dirty="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26DAD0FF-3D93-4CFB-DC6D-159DAD7B27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53141"/>
            <a:ext cx="9072879" cy="6226779"/>
          </a:xfrm>
        </p:spPr>
        <p:txBody>
          <a:bodyPr>
            <a:noAutofit/>
          </a:bodyPr>
          <a:lstStyle/>
          <a:p>
            <a:pPr algn="just"/>
            <a:r>
              <a:rPr lang="fr-FR" sz="26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Renforcer les capacités des communautés et des organisations de la société civile en matière de développement organisationnel, </a:t>
            </a:r>
          </a:p>
          <a:p>
            <a:pPr algn="just"/>
            <a:r>
              <a:rPr lang="fr-FR" sz="2600" kern="1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Renforcer l'intégration des interventions communautaires des luttes contre les endémiques et les maladies ciblées, y compris le VIH/SIDA, la TB et le paludisme</a:t>
            </a:r>
            <a:endParaRPr lang="en-US" sz="2600" kern="100" dirty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/>
            <a:r>
              <a:rPr lang="fr-FR" sz="2600" kern="1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Développer les mécanismes pour favoriser l'engagement significatif de la société civile et des communautés dans la conception, la mise en œuvre et le suivi des programmes de santé.</a:t>
            </a:r>
            <a:endParaRPr lang="en-US" sz="2600" kern="100" dirty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/>
            <a:r>
              <a:rPr lang="fr-FR" sz="2600" kern="1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Plaider en faveur de l'amélioration de l'accès aux services de santé et leur qualité pour les populations vulnérables et marginalisées.</a:t>
            </a:r>
            <a:endParaRPr lang="en-US" sz="26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56461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>
            <a:extLst>
              <a:ext uri="{FF2B5EF4-FFF2-40B4-BE49-F238E27FC236}">
                <a16:creationId xmlns:a16="http://schemas.microsoft.com/office/drawing/2014/main" id="{ED1A1905-75D5-DD8F-6013-43F2DBA45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930" y="216694"/>
            <a:ext cx="7886700" cy="602456"/>
          </a:xfrm>
          <a:noFill/>
        </p:spPr>
        <p:txBody>
          <a:bodyPr>
            <a:noAutofit/>
          </a:bodyPr>
          <a:lstStyle/>
          <a:p>
            <a:pPr algn="ctr"/>
            <a:r>
              <a:rPr lang="fr-FR" sz="4000" b="1" dirty="0">
                <a:ea typeface="Calibri" panose="020F0502020204030204" pitchFamily="34" charset="0"/>
                <a:cs typeface="Calibri" panose="020F0502020204030204" pitchFamily="34" charset="0"/>
              </a:rPr>
              <a:t>Objectifs Spécifiques 2/2 </a:t>
            </a:r>
            <a:endParaRPr lang="fr-CM" sz="4000" b="1" dirty="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E1CC2FA3-6781-6BF0-93C2-EA46A97E7B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85520"/>
            <a:ext cx="9042399" cy="5872480"/>
          </a:xfrm>
        </p:spPr>
        <p:txBody>
          <a:bodyPr>
            <a:normAutofit fontScale="92500"/>
          </a:bodyPr>
          <a:lstStyle/>
          <a:p>
            <a:pPr marR="265748" algn="just" fontAlgn="base">
              <a:lnSpc>
                <a:spcPct val="110000"/>
              </a:lnSpc>
              <a:spcAft>
                <a:spcPts val="870"/>
              </a:spcAft>
              <a:buClr>
                <a:srgbClr val="000000"/>
              </a:buClr>
              <a:buSzPts val="1500"/>
            </a:pPr>
            <a:r>
              <a:rPr lang="fr-FR" sz="2800" kern="1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Mettre en place des mécanismes robustes de suivi dirigés par les communautés pour évaluer la qualité et l'accessibilité des services de santé, </a:t>
            </a:r>
          </a:p>
          <a:p>
            <a:pPr marR="265748" algn="just" fontAlgn="base">
              <a:lnSpc>
                <a:spcPct val="110000"/>
              </a:lnSpc>
              <a:spcAft>
                <a:spcPts val="127"/>
              </a:spcAft>
              <a:buClr>
                <a:srgbClr val="000000"/>
              </a:buClr>
              <a:buSzPts val="1500"/>
            </a:pPr>
            <a:r>
              <a:rPr lang="fr-FR" sz="2800" kern="1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Promouvoir la sensibilisation et la prise de conscience sur les maladies mesures de prévention et de contrôle ;</a:t>
            </a:r>
            <a:endParaRPr lang="en-US" sz="2800" kern="100" dirty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R="265748" algn="just" fontAlgn="base">
              <a:lnSpc>
                <a:spcPct val="110000"/>
              </a:lnSpc>
              <a:spcAft>
                <a:spcPts val="881"/>
              </a:spcAft>
              <a:buClr>
                <a:srgbClr val="000000"/>
              </a:buClr>
              <a:buSzPts val="1500"/>
            </a:pPr>
            <a:r>
              <a:rPr lang="fr-FR" sz="2800" kern="1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Soutenir les mécanismes de réponse communautaire pour la gestion des épidémies et des pandémies ;</a:t>
            </a:r>
            <a:endParaRPr lang="en-US" sz="2800" kern="100" dirty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R="265748" algn="just" fontAlgn="base">
              <a:lnSpc>
                <a:spcPct val="110000"/>
              </a:lnSpc>
              <a:spcAft>
                <a:spcPts val="1785"/>
              </a:spcAft>
              <a:buClr>
                <a:srgbClr val="000000"/>
              </a:buClr>
              <a:buSzPts val="1500"/>
            </a:pPr>
            <a:r>
              <a:rPr lang="fr-FR" sz="2800" kern="1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Renforcer les partenariats et la collaboration entre les acteurs clés, notamment les organisations communautaires, les autorités sanitaires et les partenaires techniques et financiers ;</a:t>
            </a:r>
            <a:endParaRPr lang="en-US" sz="2800" kern="100" dirty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73505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A2AEB-6219-2D9F-8B9B-5E1DACA3D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200" b="1" u="sng" dirty="0"/>
              <a:t>DURÉE </a:t>
            </a:r>
            <a:endParaRPr lang="fr-CM" sz="3200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3A924F-4E1E-FD11-8650-7FFBBDA8D7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72038"/>
          </a:xfrm>
        </p:spPr>
        <p:txBody>
          <a:bodyPr>
            <a:normAutofit lnSpcReduction="10000"/>
          </a:bodyPr>
          <a:lstStyle/>
          <a:p>
            <a:r>
              <a:rPr lang="fr-CM" dirty="0">
                <a:cs typeface="Calibri" panose="020F0502020204030204" pitchFamily="34" charset="0"/>
              </a:rPr>
              <a:t>1</a:t>
            </a:r>
            <a:r>
              <a:rPr lang="fr-CM" baseline="30000" dirty="0">
                <a:cs typeface="Calibri" panose="020F0502020204030204" pitchFamily="34" charset="0"/>
              </a:rPr>
              <a:t>er</a:t>
            </a:r>
            <a:r>
              <a:rPr lang="fr-CM" dirty="0">
                <a:cs typeface="Calibri" panose="020F0502020204030204" pitchFamily="34" charset="0"/>
              </a:rPr>
              <a:t> Mai au 31 Décembre 2025</a:t>
            </a:r>
          </a:p>
          <a:p>
            <a:pPr marL="0" indent="0" algn="ctr">
              <a:buNone/>
            </a:pPr>
            <a:r>
              <a:rPr lang="fr-CM" b="1" dirty="0">
                <a:latin typeface="+mj-lt"/>
                <a:cs typeface="Calibri" panose="020F0502020204030204" pitchFamily="34" charset="0"/>
              </a:rPr>
              <a:t>CIBLE</a:t>
            </a:r>
          </a:p>
          <a:p>
            <a:pPr marL="0" indent="0">
              <a:buNone/>
            </a:pPr>
            <a:r>
              <a:rPr lang="fr-CM" dirty="0">
                <a:cs typeface="Calibri" panose="020F0502020204030204" pitchFamily="34" charset="0"/>
              </a:rPr>
              <a:t>PVVIH, TB, FEC, ENF 0-5ans, Pharmacie, </a:t>
            </a:r>
            <a:r>
              <a:rPr lang="fr-FR" dirty="0">
                <a:cs typeface="Calibri" panose="020F0502020204030204" pitchFamily="34" charset="0"/>
              </a:rPr>
              <a:t>Communautés </a:t>
            </a:r>
          </a:p>
          <a:p>
            <a:pPr marL="0" indent="0" algn="ctr">
              <a:buNone/>
            </a:pPr>
            <a:r>
              <a:rPr lang="fr-FR" b="1" u="sng" dirty="0">
                <a:cs typeface="Calibri" panose="020F0502020204030204" pitchFamily="34" charset="0"/>
              </a:rPr>
              <a:t>BUDGET</a:t>
            </a:r>
            <a:r>
              <a:rPr lang="fr-FR" dirty="0">
                <a:cs typeface="Calibri" panose="020F0502020204030204" pitchFamily="34" charset="0"/>
              </a:rPr>
              <a:t> </a:t>
            </a:r>
          </a:p>
          <a:p>
            <a:pPr marL="0" indent="0" algn="ctr">
              <a:buNone/>
            </a:pPr>
            <a:r>
              <a:rPr lang="fr-FR" dirty="0"/>
              <a:t>9,450,200 FCFA (Neuf millions quatre cent cinquante mille deux cent Francs CFA)</a:t>
            </a:r>
            <a:endParaRPr lang="fr-FR" dirty="0">
              <a:cs typeface="Calibri" panose="020F0502020204030204" pitchFamily="34" charset="0"/>
            </a:endParaRPr>
          </a:p>
          <a:p>
            <a:pPr marL="0" indent="0" algn="ctr">
              <a:buNone/>
            </a:pPr>
            <a:r>
              <a:rPr lang="fr-FR" b="1" u="sng" dirty="0">
                <a:cs typeface="Calibri" panose="020F0502020204030204" pitchFamily="34" charset="0"/>
              </a:rPr>
              <a:t>ZONE D’INTERVENTION</a:t>
            </a:r>
          </a:p>
          <a:p>
            <a:pPr marL="0" indent="0" algn="ctr">
              <a:buNone/>
            </a:pPr>
            <a:r>
              <a:rPr lang="fr-FR" dirty="0"/>
              <a:t>Districts de Biyem Assi, </a:t>
            </a:r>
            <a:r>
              <a:rPr lang="fr-FR" dirty="0" err="1"/>
              <a:t>Efoulan</a:t>
            </a:r>
            <a:r>
              <a:rPr lang="fr-FR" dirty="0"/>
              <a:t> Et </a:t>
            </a:r>
            <a:r>
              <a:rPr lang="fr-FR" dirty="0" err="1"/>
              <a:t>Odza</a:t>
            </a:r>
            <a:endParaRPr lang="fr-FR" b="1" dirty="0">
              <a:cs typeface="Calibri" panose="020F0502020204030204" pitchFamily="34" charset="0"/>
            </a:endParaRPr>
          </a:p>
          <a:p>
            <a:pPr marL="0" indent="0" algn="ctr">
              <a:buNone/>
            </a:pPr>
            <a:endParaRPr lang="fr-FR" dirty="0"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18118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E52BE-393E-62D4-A5AA-B6C531841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CM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anose="020B0A04020102020204" pitchFamily="34" charset="0"/>
                <a:ea typeface="+mj-ea"/>
                <a:cs typeface="+mj-cs"/>
              </a:rPr>
              <a:t>Résumé des activités </a:t>
            </a:r>
            <a:endParaRPr lang="fr-CM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6664FE-6385-AA2C-8A42-6D35CA1146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19200"/>
            <a:ext cx="9144000" cy="4906963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fr-CM" dirty="0"/>
              <a:t>Suivi dirigés et plaidoyer par les communautés</a:t>
            </a:r>
            <a:endParaRPr lang="en-US" dirty="0"/>
          </a:p>
          <a:p>
            <a:pPr algn="just">
              <a:lnSpc>
                <a:spcPct val="150000"/>
              </a:lnSpc>
            </a:pPr>
            <a:r>
              <a:rPr lang="fr-CM" dirty="0"/>
              <a:t>Renforcement du système communautaires- Suivi et Evaluation</a:t>
            </a:r>
            <a:endParaRPr lang="en-US" dirty="0"/>
          </a:p>
          <a:p>
            <a:pPr algn="just">
              <a:lnSpc>
                <a:spcPct val="150000"/>
              </a:lnSpc>
            </a:pPr>
            <a:r>
              <a:rPr lang="fr-CM" dirty="0"/>
              <a:t>Préparation et Riposte communautaires aux épidémies </a:t>
            </a:r>
            <a:endParaRPr lang="en-US" dirty="0"/>
          </a:p>
          <a:p>
            <a:pPr marL="0" indent="0">
              <a:buNone/>
            </a:pPr>
            <a:endParaRPr lang="fr-CM" dirty="0"/>
          </a:p>
        </p:txBody>
      </p:sp>
    </p:spTree>
    <p:extLst>
      <p:ext uri="{BB962C8B-B14F-4D97-AF65-F5344CB8AC3E}">
        <p14:creationId xmlns:p14="http://schemas.microsoft.com/office/powerpoint/2010/main" val="34552355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75BB0-91A8-3FDA-71D3-D5B103F60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28624"/>
            <a:ext cx="8229600" cy="985839"/>
          </a:xfrm>
        </p:spPr>
        <p:txBody>
          <a:bodyPr>
            <a:noAutofit/>
          </a:bodyPr>
          <a:lstStyle/>
          <a:p>
            <a:pPr marL="514350" marR="0" lvl="0" indent="-514350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+mj-lt"/>
              <a:buAutoNum type="arabicPeriod"/>
              <a:tabLst/>
              <a:defRPr/>
            </a:pPr>
            <a:r>
              <a:rPr kumimoji="0" lang="fr-CM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Suivi dirigés et plaidoyer par les communautés( CLM)</a:t>
            </a:r>
            <a:b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</a:br>
            <a:endParaRPr lang="fr-CM"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099E7A-3545-F1E2-DF7B-CB44F2986D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71120" y="1414463"/>
            <a:ext cx="9215120" cy="5362257"/>
          </a:xfrm>
        </p:spPr>
        <p:txBody>
          <a:bodyPr>
            <a:normAutofit fontScale="92500" lnSpcReduction="10000"/>
          </a:bodyPr>
          <a:lstStyle/>
          <a:p>
            <a:pPr marL="0" indent="0" defTabSz="914400">
              <a:spcBef>
                <a:spcPts val="0"/>
              </a:spcBef>
              <a:buNone/>
              <a:defRPr/>
            </a:pPr>
            <a:r>
              <a:rPr lang="fr-FR" sz="2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Responsables : </a:t>
            </a:r>
            <a:r>
              <a:rPr lang="fr-FR" sz="2400" b="1" i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Sentinelles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Collecte des données en FOSA &amp; Communauté;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Causeries éducatives Binômes ( dans un groupe d’au moins 15 personnes)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Responsables : </a:t>
            </a:r>
            <a:r>
              <a:rPr kumimoji="0" lang="fr-FR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Superviseur	: ABIAMA VIVIANE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La saisie et l’analyse des données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Supervision des activités des sentinelles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Responsables : </a:t>
            </a:r>
            <a:r>
              <a:rPr lang="fr-FR" sz="2400" b="1" i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Coordonnateur: NGAH STEPHANIE</a:t>
            </a:r>
            <a:endParaRPr kumimoji="0" lang="fr-FR" sz="24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Production &amp; partage du rapport mensuel avec les différentes parties prenantes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Plaidoyer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Participation aux différentes réunions de coordination du district</a:t>
            </a:r>
          </a:p>
          <a:p>
            <a:endParaRPr lang="fr-FR" sz="18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endParaRPr lang="fr-CM" dirty="0"/>
          </a:p>
        </p:txBody>
      </p:sp>
    </p:spTree>
    <p:extLst>
      <p:ext uri="{BB962C8B-B14F-4D97-AF65-F5344CB8AC3E}">
        <p14:creationId xmlns:p14="http://schemas.microsoft.com/office/powerpoint/2010/main" val="10017497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23FEC9E-670C-48C9-90A3-6EB4018669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6126189"/>
              </p:ext>
            </p:extLst>
          </p:nvPr>
        </p:nvGraphicFramePr>
        <p:xfrm>
          <a:off x="0" y="469523"/>
          <a:ext cx="9018270" cy="649180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391183">
                  <a:extLst>
                    <a:ext uri="{9D8B030D-6E8A-4147-A177-3AD203B41FA5}">
                      <a16:colId xmlns:a16="http://schemas.microsoft.com/office/drawing/2014/main" val="2535161901"/>
                    </a:ext>
                  </a:extLst>
                </a:gridCol>
                <a:gridCol w="3720817">
                  <a:extLst>
                    <a:ext uri="{9D8B030D-6E8A-4147-A177-3AD203B41FA5}">
                      <a16:colId xmlns:a16="http://schemas.microsoft.com/office/drawing/2014/main" val="3613491058"/>
                    </a:ext>
                  </a:extLst>
                </a:gridCol>
                <a:gridCol w="1906270">
                  <a:extLst>
                    <a:ext uri="{9D8B030D-6E8A-4147-A177-3AD203B41FA5}">
                      <a16:colId xmlns:a16="http://schemas.microsoft.com/office/drawing/2014/main" val="1853307269"/>
                    </a:ext>
                  </a:extLst>
                </a:gridCol>
              </a:tblGrid>
              <a:tr h="19420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 dirty="0">
                          <a:effectLst/>
                        </a:rPr>
                        <a:t>SENTINELLE</a:t>
                      </a:r>
                      <a:endParaRPr lang="fr-CM" sz="2400" kern="100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771" marR="4877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 dirty="0">
                          <a:effectLst/>
                        </a:rPr>
                        <a:t>FOSA</a:t>
                      </a:r>
                      <a:endParaRPr lang="fr-CM" sz="2400" kern="100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771" marR="4877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 dirty="0">
                          <a:effectLst/>
                          <a:latin typeface="+mn-lt"/>
                          <a:ea typeface="+mn-ea"/>
                          <a:cs typeface="+mn-cs"/>
                        </a:rPr>
                        <a:t>DISTRICT</a:t>
                      </a:r>
                      <a:endParaRPr lang="fr-CM" sz="2400" kern="100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771" marR="48771" marT="0" marB="0"/>
                </a:tc>
                <a:extLst>
                  <a:ext uri="{0D108BD9-81ED-4DB2-BD59-A6C34878D82A}">
                    <a16:rowId xmlns:a16="http://schemas.microsoft.com/office/drawing/2014/main" val="4150096506"/>
                  </a:ext>
                </a:extLst>
              </a:tr>
              <a:tr h="19420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</a:rPr>
                        <a:t>NJEUMOU ULRICH</a:t>
                      </a:r>
                      <a:endParaRPr lang="fr-CM" sz="24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771" marR="48771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</a:rPr>
                        <a:t>HD BIYEM ASSI</a:t>
                      </a:r>
                      <a:endParaRPr lang="fr-CM" sz="24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771" marR="48771" marT="0" marB="0"/>
                </a:tc>
                <a:tc rowSpan="10"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 dirty="0">
                          <a:effectLst/>
                        </a:rPr>
                        <a:t>BIYEM ASSI</a:t>
                      </a:r>
                      <a:endParaRPr lang="fr-CM" sz="2400" kern="100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771" marR="48771" marT="0" marB="0"/>
                </a:tc>
                <a:extLst>
                  <a:ext uri="{0D108BD9-81ED-4DB2-BD59-A6C34878D82A}">
                    <a16:rowId xmlns:a16="http://schemas.microsoft.com/office/drawing/2014/main" val="3008815764"/>
                  </a:ext>
                </a:extLst>
              </a:tr>
              <a:tr h="378683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</a:rPr>
                        <a:t>YONKEU KAMGUEP ARTHUR</a:t>
                      </a:r>
                      <a:endParaRPr lang="fr-CM" sz="24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771" marR="48771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 dirty="0">
                          <a:effectLst/>
                        </a:rPr>
                        <a:t>CBC BAPTIST</a:t>
                      </a:r>
                      <a:endParaRPr lang="fr-CM" sz="2400" kern="100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771" marR="48771" marT="0" marB="0"/>
                </a:tc>
                <a:tc vMerge="1">
                  <a:txBody>
                    <a:bodyPr/>
                    <a:lstStyle/>
                    <a:p>
                      <a:endParaRPr lang="fr-CM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0296020"/>
                  </a:ext>
                </a:extLst>
              </a:tr>
              <a:tr h="19420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</a:rPr>
                        <a:t>NWAMEN FLORENT</a:t>
                      </a:r>
                      <a:endParaRPr lang="fr-CM" sz="24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771" marR="48771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</a:rPr>
                        <a:t>CMA MENDONG</a:t>
                      </a:r>
                      <a:endParaRPr lang="fr-CM" sz="24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771" marR="48771" marT="0" marB="0"/>
                </a:tc>
                <a:tc vMerge="1">
                  <a:txBody>
                    <a:bodyPr/>
                    <a:lstStyle/>
                    <a:p>
                      <a:endParaRPr lang="fr-CM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429437"/>
                  </a:ext>
                </a:extLst>
              </a:tr>
              <a:tr h="44668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</a:rPr>
                        <a:t>AVOMO NDZODO MARIE JULIETTE</a:t>
                      </a:r>
                      <a:endParaRPr lang="fr-CM" sz="24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771" marR="48771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 dirty="0">
                          <a:effectLst/>
                        </a:rPr>
                        <a:t>CMA MVOG BETSI</a:t>
                      </a:r>
                      <a:endParaRPr lang="fr-CM" sz="2400" kern="100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771" marR="48771" marT="0" marB="0"/>
                </a:tc>
                <a:tc vMerge="1">
                  <a:txBody>
                    <a:bodyPr/>
                    <a:lstStyle/>
                    <a:p>
                      <a:endParaRPr lang="fr-CM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633592"/>
                  </a:ext>
                </a:extLst>
              </a:tr>
              <a:tr h="19420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 dirty="0">
                          <a:effectLst/>
                        </a:rPr>
                        <a:t>DZOU NGUINI YVAN</a:t>
                      </a:r>
                      <a:endParaRPr lang="fr-CM" sz="2400" kern="100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771" marR="48771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 dirty="0">
                          <a:effectLst/>
                        </a:rPr>
                        <a:t>SAINT MARTIN DE PORRES</a:t>
                      </a:r>
                      <a:endParaRPr lang="fr-CM" sz="2400" kern="100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771" marR="48771" marT="0" marB="0"/>
                </a:tc>
                <a:tc vMerge="1">
                  <a:txBody>
                    <a:bodyPr/>
                    <a:lstStyle/>
                    <a:p>
                      <a:endParaRPr lang="fr-CM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3033950"/>
                  </a:ext>
                </a:extLst>
              </a:tr>
              <a:tr h="19420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</a:rPr>
                        <a:t>NDONGO PARFAIT</a:t>
                      </a:r>
                      <a:endParaRPr lang="fr-CM" sz="24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771" marR="48771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</a:rPr>
                        <a:t>CHU</a:t>
                      </a:r>
                      <a:endParaRPr lang="fr-CM" sz="24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771" marR="48771" marT="0" marB="0"/>
                </a:tc>
                <a:tc vMerge="1">
                  <a:txBody>
                    <a:bodyPr/>
                    <a:lstStyle/>
                    <a:p>
                      <a:endParaRPr lang="fr-CM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8073119"/>
                  </a:ext>
                </a:extLst>
              </a:tr>
              <a:tr h="378683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</a:rPr>
                        <a:t>DJOUKENG SONFACK AURELLIA</a:t>
                      </a:r>
                      <a:endParaRPr lang="fr-CM" sz="24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771" marR="48771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</a:rPr>
                        <a:t>CS ACACIA</a:t>
                      </a:r>
                      <a:endParaRPr lang="fr-CM" sz="24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771" marR="48771" marT="0" marB="0"/>
                </a:tc>
                <a:tc vMerge="1">
                  <a:txBody>
                    <a:bodyPr/>
                    <a:lstStyle/>
                    <a:p>
                      <a:endParaRPr lang="fr-CM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2689990"/>
                  </a:ext>
                </a:extLst>
              </a:tr>
              <a:tr h="378683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</a:rPr>
                        <a:t>MEZOUOGUE NTONG MICHEL</a:t>
                      </a:r>
                      <a:endParaRPr lang="fr-CM" sz="24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771" marR="48771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</a:rPr>
                        <a:t>CS MARIE IMMACULE MENDONG</a:t>
                      </a:r>
                      <a:endParaRPr lang="fr-CM" sz="24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771" marR="48771" marT="0" marB="0"/>
                </a:tc>
                <a:tc vMerge="1">
                  <a:txBody>
                    <a:bodyPr/>
                    <a:lstStyle/>
                    <a:p>
                      <a:endParaRPr lang="fr-CM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0093214"/>
                  </a:ext>
                </a:extLst>
              </a:tr>
              <a:tr h="378683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</a:rPr>
                        <a:t>LOBENG MOUAFO JORESSE</a:t>
                      </a:r>
                      <a:endParaRPr lang="fr-CM" sz="24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771" marR="48771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</a:rPr>
                        <a:t>CS BON SECOURS PLU</a:t>
                      </a:r>
                      <a:endParaRPr lang="fr-CM" sz="24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771" marR="48771" marT="0" marB="0"/>
                </a:tc>
                <a:tc vMerge="1">
                  <a:txBody>
                    <a:bodyPr/>
                    <a:lstStyle/>
                    <a:p>
                      <a:endParaRPr lang="fr-CM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8660350"/>
                  </a:ext>
                </a:extLst>
              </a:tr>
              <a:tr h="19420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 dirty="0">
                          <a:effectLst/>
                        </a:rPr>
                        <a:t>ABOMO PAULINE</a:t>
                      </a:r>
                      <a:endParaRPr lang="fr-CM" sz="2400" kern="100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771" marR="48771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 dirty="0">
                          <a:effectLst/>
                        </a:rPr>
                        <a:t>CS SAINTE ETIENNE</a:t>
                      </a:r>
                      <a:endParaRPr lang="fr-CM" sz="2400" kern="100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771" marR="48771" marT="0" marB="0"/>
                </a:tc>
                <a:tc vMerge="1">
                  <a:txBody>
                    <a:bodyPr/>
                    <a:lstStyle/>
                    <a:p>
                      <a:endParaRPr lang="fr-CM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3266133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414BE861-248C-216B-FD94-5A3CD3E204E4}"/>
              </a:ext>
            </a:extLst>
          </p:cNvPr>
          <p:cNvSpPr txBox="1"/>
          <p:nvPr/>
        </p:nvSpPr>
        <p:spPr>
          <a:xfrm>
            <a:off x="596583" y="2143"/>
            <a:ext cx="6786562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Répartition des sentinelles dans les FOSA </a:t>
            </a:r>
            <a:endParaRPr lang="fr-CM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19748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23FEC9E-670C-48C9-90A3-6EB4018669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0069591"/>
              </p:ext>
            </p:extLst>
          </p:nvPr>
        </p:nvGraphicFramePr>
        <p:xfrm>
          <a:off x="0" y="371475"/>
          <a:ext cx="9018270" cy="588334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15916">
                  <a:extLst>
                    <a:ext uri="{9D8B030D-6E8A-4147-A177-3AD203B41FA5}">
                      <a16:colId xmlns:a16="http://schemas.microsoft.com/office/drawing/2014/main" val="2535161901"/>
                    </a:ext>
                  </a:extLst>
                </a:gridCol>
                <a:gridCol w="1975267">
                  <a:extLst>
                    <a:ext uri="{9D8B030D-6E8A-4147-A177-3AD203B41FA5}">
                      <a16:colId xmlns:a16="http://schemas.microsoft.com/office/drawing/2014/main" val="1148992016"/>
                    </a:ext>
                  </a:extLst>
                </a:gridCol>
                <a:gridCol w="4621127">
                  <a:extLst>
                    <a:ext uri="{9D8B030D-6E8A-4147-A177-3AD203B41FA5}">
                      <a16:colId xmlns:a16="http://schemas.microsoft.com/office/drawing/2014/main" val="3613491058"/>
                    </a:ext>
                  </a:extLst>
                </a:gridCol>
                <a:gridCol w="1005960">
                  <a:extLst>
                    <a:ext uri="{9D8B030D-6E8A-4147-A177-3AD203B41FA5}">
                      <a16:colId xmlns:a16="http://schemas.microsoft.com/office/drawing/2014/main" val="1853307269"/>
                    </a:ext>
                  </a:extLst>
                </a:gridCol>
              </a:tblGrid>
              <a:tr h="194201"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SENTINELLE</a:t>
                      </a:r>
                      <a:endParaRPr lang="fr-CM" sz="14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771" marR="48771" marT="0" marB="0"/>
                </a:tc>
                <a:tc hMerge="1">
                  <a:txBody>
                    <a:bodyPr/>
                    <a:lstStyle/>
                    <a:p>
                      <a:endParaRPr lang="fr-CM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FOSA</a:t>
                      </a:r>
                      <a:endParaRPr lang="fr-CM" sz="14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771" marR="4877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district</a:t>
                      </a:r>
                      <a:endParaRPr lang="fr-CM" sz="1400" kern="100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771" marR="48771" marT="0" marB="0"/>
                </a:tc>
                <a:extLst>
                  <a:ext uri="{0D108BD9-81ED-4DB2-BD59-A6C34878D82A}">
                    <a16:rowId xmlns:a16="http://schemas.microsoft.com/office/drawing/2014/main" val="4150096506"/>
                  </a:ext>
                </a:extLst>
              </a:tr>
              <a:tr h="194201">
                <a:tc gridSpan="2"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 dirty="0">
                          <a:effectLst/>
                        </a:rPr>
                        <a:t>EBAH ESSOMBA PAULINE</a:t>
                      </a:r>
                      <a:endParaRPr lang="fr-CM" sz="2400" kern="100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771" marR="48771" marT="0" marB="0"/>
                </a:tc>
                <a:tc hMerge="1">
                  <a:txBody>
                    <a:bodyPr/>
                    <a:lstStyle/>
                    <a:p>
                      <a:endParaRPr lang="fr-CM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</a:rPr>
                        <a:t>CMA NKOMO</a:t>
                      </a:r>
                      <a:endParaRPr lang="fr-CM" sz="24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771" marR="48771" marT="0" marB="0"/>
                </a:tc>
                <a:tc rowSpan="4"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ODZA</a:t>
                      </a:r>
                      <a:endParaRPr lang="fr-CM" sz="16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771" marR="48771" marT="0" marB="0"/>
                </a:tc>
                <a:extLst>
                  <a:ext uri="{0D108BD9-81ED-4DB2-BD59-A6C34878D82A}">
                    <a16:rowId xmlns:a16="http://schemas.microsoft.com/office/drawing/2014/main" val="1678006916"/>
                  </a:ext>
                </a:extLst>
              </a:tr>
              <a:tr h="378683">
                <a:tc gridSpan="2"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 dirty="0">
                          <a:effectLst/>
                        </a:rPr>
                        <a:t>NGO SICK JUSTINE</a:t>
                      </a:r>
                      <a:endParaRPr lang="fr-CM" sz="2400" kern="100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771" marR="48771" marT="0" marB="0"/>
                </a:tc>
                <a:tc hMerge="1">
                  <a:txBody>
                    <a:bodyPr/>
                    <a:lstStyle/>
                    <a:p>
                      <a:endParaRPr lang="fr-CM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</a:rPr>
                        <a:t>CM CATHOLIQUE DE MESSAMENDONGO</a:t>
                      </a:r>
                      <a:endParaRPr lang="fr-CM" sz="24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771" marR="48771" marT="0" marB="0"/>
                </a:tc>
                <a:tc vMerge="1">
                  <a:txBody>
                    <a:bodyPr/>
                    <a:lstStyle/>
                    <a:p>
                      <a:endParaRPr lang="fr-CM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5733678"/>
                  </a:ext>
                </a:extLst>
              </a:tr>
              <a:tr h="194201">
                <a:tc gridSpan="2"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 dirty="0">
                          <a:effectLst/>
                        </a:rPr>
                        <a:t>EKANI LESLIE</a:t>
                      </a:r>
                      <a:endParaRPr lang="fr-CM" sz="2400" kern="100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771" marR="48771" marT="0" marB="0"/>
                </a:tc>
                <a:tc hMerge="1">
                  <a:txBody>
                    <a:bodyPr/>
                    <a:lstStyle/>
                    <a:p>
                      <a:endParaRPr lang="fr-CM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 dirty="0">
                          <a:effectLst/>
                        </a:rPr>
                        <a:t>HD ODZA</a:t>
                      </a:r>
                      <a:endParaRPr lang="fr-CM" sz="2400" kern="100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771" marR="48771" marT="0" marB="0"/>
                </a:tc>
                <a:tc vMerge="1">
                  <a:txBody>
                    <a:bodyPr/>
                    <a:lstStyle/>
                    <a:p>
                      <a:endParaRPr lang="fr-CM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2293744"/>
                  </a:ext>
                </a:extLst>
              </a:tr>
              <a:tr h="378683">
                <a:tc gridSpan="2"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</a:rPr>
                        <a:t>NDANGFEU KETCHA CHRISTINE</a:t>
                      </a:r>
                      <a:endParaRPr lang="fr-CM" sz="24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771" marR="48771" marT="0" marB="0"/>
                </a:tc>
                <a:tc hMerge="1">
                  <a:txBody>
                    <a:bodyPr/>
                    <a:lstStyle/>
                    <a:p>
                      <a:endParaRPr lang="fr-CM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 dirty="0">
                          <a:effectLst/>
                        </a:rPr>
                        <a:t>BATIST HEALTH CENTER EKOUMDOUM</a:t>
                      </a:r>
                      <a:endParaRPr lang="fr-CM" sz="2400" kern="100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771" marR="48771" marT="0" marB="0"/>
                </a:tc>
                <a:tc vMerge="1">
                  <a:txBody>
                    <a:bodyPr/>
                    <a:lstStyle/>
                    <a:p>
                      <a:endParaRPr lang="fr-CM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0540655"/>
                  </a:ext>
                </a:extLst>
              </a:tr>
              <a:tr h="378683">
                <a:tc gridSpan="2"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</a:rPr>
                        <a:t>DASSE TAFFO HASSAN DIALLO </a:t>
                      </a:r>
                      <a:endParaRPr lang="fr-CM" sz="24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771" marR="48771" marT="0" marB="0"/>
                </a:tc>
                <a:tc hMerge="1">
                  <a:txBody>
                    <a:bodyPr/>
                    <a:lstStyle/>
                    <a:p>
                      <a:endParaRPr lang="fr-CM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 dirty="0">
                          <a:effectLst/>
                        </a:rPr>
                        <a:t>HD EFOULAN</a:t>
                      </a:r>
                      <a:endParaRPr lang="fr-CM" sz="2400" kern="100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771" marR="48771" marT="0" marB="0"/>
                </a:tc>
                <a:tc rowSpan="6"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EFOULAN</a:t>
                      </a:r>
                      <a:endParaRPr lang="fr-CM" sz="1600" kern="100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771" marR="48771" marT="0" marB="0"/>
                </a:tc>
                <a:extLst>
                  <a:ext uri="{0D108BD9-81ED-4DB2-BD59-A6C34878D82A}">
                    <a16:rowId xmlns:a16="http://schemas.microsoft.com/office/drawing/2014/main" val="3278080285"/>
                  </a:ext>
                </a:extLst>
              </a:tr>
              <a:tr h="194201">
                <a:tc gridSpan="2"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</a:rPr>
                        <a:t>FOUDA ASSIGA JOSEPH</a:t>
                      </a:r>
                      <a:endParaRPr lang="fr-CM" sz="24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771" marR="48771" marT="0" marB="0"/>
                </a:tc>
                <a:tc hMerge="1">
                  <a:txBody>
                    <a:bodyPr/>
                    <a:lstStyle/>
                    <a:p>
                      <a:endParaRPr lang="fr-CM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 dirty="0">
                          <a:effectLst/>
                        </a:rPr>
                        <a:t>CSC MVOLYE</a:t>
                      </a:r>
                      <a:endParaRPr lang="fr-CM" sz="2400" kern="100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771" marR="48771" marT="0" marB="0"/>
                </a:tc>
                <a:tc vMerge="1">
                  <a:txBody>
                    <a:bodyPr/>
                    <a:lstStyle/>
                    <a:p>
                      <a:endParaRPr lang="fr-CM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5864861"/>
                  </a:ext>
                </a:extLst>
              </a:tr>
              <a:tr h="194201">
                <a:tc gridSpan="2"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</a:rPr>
                        <a:t>ZOUMA PRUDENCE</a:t>
                      </a:r>
                      <a:endParaRPr lang="fr-CM" sz="24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771" marR="48771" marT="0" marB="0"/>
                </a:tc>
                <a:tc hMerge="1">
                  <a:txBody>
                    <a:bodyPr/>
                    <a:lstStyle/>
                    <a:p>
                      <a:endParaRPr lang="fr-CM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 dirty="0">
                          <a:effectLst/>
                        </a:rPr>
                        <a:t>CS MARIE LOUIS</a:t>
                      </a:r>
                      <a:endParaRPr lang="fr-CM" sz="2400" kern="100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771" marR="48771" marT="0" marB="0"/>
                </a:tc>
                <a:tc vMerge="1">
                  <a:txBody>
                    <a:bodyPr/>
                    <a:lstStyle/>
                    <a:p>
                      <a:endParaRPr lang="fr-CM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6019633"/>
                  </a:ext>
                </a:extLst>
              </a:tr>
              <a:tr h="378683">
                <a:tc gridSpan="2"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 dirty="0">
                          <a:effectLst/>
                        </a:rPr>
                        <a:t>KOMPISSI KEVANE SARAH</a:t>
                      </a:r>
                      <a:endParaRPr lang="fr-CM" sz="2400" kern="100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771" marR="48771" marT="0" marB="0"/>
                </a:tc>
                <a:tc hMerge="1">
                  <a:txBody>
                    <a:bodyPr/>
                    <a:lstStyle/>
                    <a:p>
                      <a:endParaRPr lang="fr-CM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 dirty="0">
                          <a:effectLst/>
                        </a:rPr>
                        <a:t>PHC NSIMEYONG</a:t>
                      </a:r>
                      <a:endParaRPr lang="fr-CM" sz="2400" kern="100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771" marR="48771" marT="0" marB="0"/>
                </a:tc>
                <a:tc vMerge="1">
                  <a:txBody>
                    <a:bodyPr/>
                    <a:lstStyle/>
                    <a:p>
                      <a:endParaRPr lang="fr-CM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412615"/>
                  </a:ext>
                </a:extLst>
              </a:tr>
              <a:tr h="194201">
                <a:tc gridSpan="2"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</a:rPr>
                        <a:t>MELINGUI Darine</a:t>
                      </a:r>
                      <a:endParaRPr lang="fr-CM" sz="24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771" marR="48771" marT="0" marB="0"/>
                </a:tc>
                <a:tc hMerge="1">
                  <a:txBody>
                    <a:bodyPr/>
                    <a:lstStyle/>
                    <a:p>
                      <a:endParaRPr lang="fr-CM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 dirty="0">
                          <a:effectLst/>
                        </a:rPr>
                        <a:t>AD LUCEM OBOBOGO</a:t>
                      </a:r>
                      <a:endParaRPr lang="fr-CM" sz="2400" kern="100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771" marR="48771" marT="0" marB="0"/>
                </a:tc>
                <a:tc vMerge="1">
                  <a:txBody>
                    <a:bodyPr/>
                    <a:lstStyle/>
                    <a:p>
                      <a:endParaRPr lang="fr-CM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5447338"/>
                  </a:ext>
                </a:extLst>
              </a:tr>
              <a:tr h="194201">
                <a:tc gridSpan="2"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 dirty="0">
                          <a:effectLst/>
                        </a:rPr>
                        <a:t>BILO’O Marguerite</a:t>
                      </a:r>
                      <a:endParaRPr lang="fr-CM" sz="2400" kern="100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771" marR="48771" marT="0" marB="0"/>
                </a:tc>
                <a:tc hMerge="1">
                  <a:txBody>
                    <a:bodyPr/>
                    <a:lstStyle/>
                    <a:p>
                      <a:endParaRPr lang="fr-CM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 dirty="0">
                          <a:effectLst/>
                        </a:rPr>
                        <a:t>CMA D’AHALA</a:t>
                      </a:r>
                      <a:endParaRPr lang="fr-CM" sz="2400" kern="100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771" marR="48771" marT="0" marB="0"/>
                </a:tc>
                <a:tc vMerge="1">
                  <a:txBody>
                    <a:bodyPr/>
                    <a:lstStyle/>
                    <a:p>
                      <a:endParaRPr lang="fr-CM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6782627"/>
                  </a:ext>
                </a:extLst>
              </a:tr>
              <a:tr h="19420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</a:rPr>
                        <a:t>Total </a:t>
                      </a:r>
                      <a:endParaRPr lang="fr-CM" sz="24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771" marR="48771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</a:rPr>
                        <a:t>20</a:t>
                      </a:r>
                      <a:endParaRPr lang="fr-CM" sz="24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771" marR="48771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 dirty="0">
                          <a:effectLst/>
                        </a:rPr>
                        <a:t> </a:t>
                      </a:r>
                      <a:endParaRPr lang="fr-CM" sz="2400" kern="100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771" marR="48771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100" dirty="0">
                          <a:effectLst/>
                        </a:rPr>
                        <a:t> </a:t>
                      </a:r>
                      <a:endParaRPr lang="fr-CM" sz="900" kern="100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771" marR="48771" marT="0" marB="0"/>
                </a:tc>
                <a:extLst>
                  <a:ext uri="{0D108BD9-81ED-4DB2-BD59-A6C34878D82A}">
                    <a16:rowId xmlns:a16="http://schemas.microsoft.com/office/drawing/2014/main" val="1946092969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414BE861-248C-216B-FD94-5A3CD3E204E4}"/>
              </a:ext>
            </a:extLst>
          </p:cNvPr>
          <p:cNvSpPr txBox="1"/>
          <p:nvPr/>
        </p:nvSpPr>
        <p:spPr>
          <a:xfrm>
            <a:off x="596583" y="2143"/>
            <a:ext cx="6786562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Répartition des sentinelles dans les  FOSA </a:t>
            </a:r>
            <a:endParaRPr lang="fr-CM" dirty="0"/>
          </a:p>
        </p:txBody>
      </p:sp>
    </p:spTree>
    <p:extLst>
      <p:ext uri="{BB962C8B-B14F-4D97-AF65-F5344CB8AC3E}">
        <p14:creationId xmlns:p14="http://schemas.microsoft.com/office/powerpoint/2010/main" val="35063883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AA642A9-94DD-2015-9965-9A9D476DA9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1760" y="5799"/>
            <a:ext cx="9255760" cy="6846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7927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04F96-B712-91A3-6A3D-6FA54A363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R="0" lvl="0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tabLst/>
              <a:defRPr/>
            </a:pPr>
            <a:r>
              <a:rPr kumimoji="0" lang="fr-CM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</a:t>
            </a:r>
            <a:r>
              <a:rPr kumimoji="0" lang="fr-CM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  <a:r>
              <a:rPr kumimoji="0" lang="fr-CM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. Renforcement du système communautaires- Suivi et Evaluation</a:t>
            </a:r>
            <a:b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</a:br>
            <a:endParaRPr lang="fr-CM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D8BEFB-4143-A685-C276-A9F9A8BF1E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00200"/>
            <a:ext cx="9052560" cy="5257800"/>
          </a:xfrm>
        </p:spPr>
        <p:txBody>
          <a:bodyPr>
            <a:normAutofit/>
          </a:bodyPr>
          <a:lstStyle/>
          <a:p>
            <a:pPr defTabSz="914400">
              <a:spcBef>
                <a:spcPts val="0"/>
              </a:spcBef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Formation sur le RMA communautaire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Personnes impliquées: </a:t>
            </a:r>
            <a:r>
              <a:rPr kumimoji="0" lang="fr-FR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Sentinelles, superviseurs &amp; coordonnateurs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914400">
              <a:spcBef>
                <a:spcPts val="0"/>
              </a:spcBef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Causerie éducatives couplées au </a:t>
            </a:r>
            <a:r>
              <a:rPr kumimoji="0" lang="fr-FR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CLM,Production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de rapport d’activités sur la surveillance communautaire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Responsables: </a:t>
            </a:r>
            <a:r>
              <a:rPr kumimoji="0" lang="fr-FR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sentinelles, superviseurs</a:t>
            </a:r>
          </a:p>
          <a:p>
            <a:pPr marL="0" indent="0" defTabSz="914400">
              <a:spcBef>
                <a:spcPts val="0"/>
              </a:spcBef>
              <a:buNone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914400">
              <a:spcBef>
                <a:spcPts val="0"/>
              </a:spcBef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Renforcement des capacités sur la gestion des données en utilisant les outils tels que ( RMA, DHIS2 et Microsoft Excel)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Personnes impliquées: </a:t>
            </a:r>
            <a:r>
              <a:rPr kumimoji="0" lang="fr-FR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Superviseur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( formé comme formateur)</a:t>
            </a:r>
          </a:p>
          <a:p>
            <a:pPr defTabSz="914400">
              <a:spcBef>
                <a:spcPts val="0"/>
              </a:spcBef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endParaRPr lang="fr-CM" dirty="0"/>
          </a:p>
        </p:txBody>
      </p:sp>
    </p:spTree>
    <p:extLst>
      <p:ext uri="{BB962C8B-B14F-4D97-AF65-F5344CB8AC3E}">
        <p14:creationId xmlns:p14="http://schemas.microsoft.com/office/powerpoint/2010/main" val="19661203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95EC3-2DDC-8812-5CDE-4DFAB065F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342900" marR="0" lvl="0" indent="-342900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tabLst/>
              <a:defRPr/>
            </a:pPr>
            <a:r>
              <a:rPr kumimoji="0" lang="fr-CM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3. </a:t>
            </a:r>
            <a:r>
              <a:rPr kumimoji="0" lang="fr-CM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Préparation et Riposte communautaires aux épidémies </a:t>
            </a:r>
            <a:b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endParaRPr lang="fr-CM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3A4F60-0DAB-BD9C-7F83-D79620CA7E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defTabSz="914400">
              <a:spcBef>
                <a:spcPts val="0"/>
              </a:spcBef>
              <a:defRPr/>
            </a:pPr>
            <a:r>
              <a:rPr kumimoji="0" lang="fr-F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Formation sur la surveillance à base  communautaire sur les maladies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fr-F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Personnes impliquées: </a:t>
            </a:r>
            <a:r>
              <a:rPr kumimoji="0" lang="fr-FR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Sentinelles, superviseurs &amp; coordonnateurs</a:t>
            </a:r>
          </a:p>
          <a:p>
            <a:pPr marL="0" indent="0">
              <a:buNone/>
            </a:pPr>
            <a:endParaRPr lang="fr-CM" dirty="0"/>
          </a:p>
        </p:txBody>
      </p:sp>
    </p:spTree>
    <p:extLst>
      <p:ext uri="{BB962C8B-B14F-4D97-AF65-F5344CB8AC3E}">
        <p14:creationId xmlns:p14="http://schemas.microsoft.com/office/powerpoint/2010/main" val="37147580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E59BFD-E6C1-6DE9-8DB6-3AAB4FA2389E}"/>
              </a:ext>
            </a:extLst>
          </p:cNvPr>
          <p:cNvSpPr txBox="1"/>
          <p:nvPr/>
        </p:nvSpPr>
        <p:spPr>
          <a:xfrm>
            <a:off x="871538" y="328613"/>
            <a:ext cx="7329487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4000" b="1" dirty="0"/>
              <a:t>CADRE DES PERFOMMANCES</a:t>
            </a:r>
            <a:endParaRPr lang="fr-CM" sz="4000" b="1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37E526A-BD72-8C0E-1AD8-14AF33365D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3771569"/>
              </p:ext>
            </p:extLst>
          </p:nvPr>
        </p:nvGraphicFramePr>
        <p:xfrm>
          <a:off x="128588" y="1257300"/>
          <a:ext cx="8715375" cy="560069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32202">
                  <a:extLst>
                    <a:ext uri="{9D8B030D-6E8A-4147-A177-3AD203B41FA5}">
                      <a16:colId xmlns:a16="http://schemas.microsoft.com/office/drawing/2014/main" val="3706865714"/>
                    </a:ext>
                  </a:extLst>
                </a:gridCol>
                <a:gridCol w="1328711">
                  <a:extLst>
                    <a:ext uri="{9D8B030D-6E8A-4147-A177-3AD203B41FA5}">
                      <a16:colId xmlns:a16="http://schemas.microsoft.com/office/drawing/2014/main" val="4192546907"/>
                    </a:ext>
                  </a:extLst>
                </a:gridCol>
                <a:gridCol w="1967458">
                  <a:extLst>
                    <a:ext uri="{9D8B030D-6E8A-4147-A177-3AD203B41FA5}">
                      <a16:colId xmlns:a16="http://schemas.microsoft.com/office/drawing/2014/main" val="1039397236"/>
                    </a:ext>
                  </a:extLst>
                </a:gridCol>
                <a:gridCol w="2032202">
                  <a:extLst>
                    <a:ext uri="{9D8B030D-6E8A-4147-A177-3AD203B41FA5}">
                      <a16:colId xmlns:a16="http://schemas.microsoft.com/office/drawing/2014/main" val="79443553"/>
                    </a:ext>
                  </a:extLst>
                </a:gridCol>
                <a:gridCol w="1354802">
                  <a:extLst>
                    <a:ext uri="{9D8B030D-6E8A-4147-A177-3AD203B41FA5}">
                      <a16:colId xmlns:a16="http://schemas.microsoft.com/office/drawing/2014/main" val="4021054354"/>
                    </a:ext>
                  </a:extLst>
                </a:gridCol>
              </a:tblGrid>
              <a:tr h="66561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fr-FR" sz="1100">
                          <a:effectLst/>
                        </a:rPr>
                        <a:t>Indicateur</a:t>
                      </a:r>
                      <a:endParaRPr lang="fr-CM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1660" marR="4166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fr-FR" sz="1100">
                          <a:effectLst/>
                        </a:rPr>
                        <a:t>Cible</a:t>
                      </a:r>
                      <a:endParaRPr lang="fr-CM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1660" marR="4166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fr-FR" sz="1100">
                          <a:effectLst/>
                        </a:rPr>
                        <a:t>Résultats attendus</a:t>
                      </a:r>
                      <a:endParaRPr lang="fr-CM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1660" marR="4166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fr-FR" sz="1100">
                          <a:effectLst/>
                        </a:rPr>
                        <a:t>Source des données</a:t>
                      </a:r>
                      <a:endParaRPr lang="fr-CM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1660" marR="4166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fr-FR" sz="1100">
                          <a:effectLst/>
                        </a:rPr>
                        <a:t>Fréquence de reporting</a:t>
                      </a:r>
                      <a:endParaRPr lang="fr-CM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1660" marR="41660" marT="0" marB="0" anchor="ctr"/>
                </a:tc>
                <a:extLst>
                  <a:ext uri="{0D108BD9-81ED-4DB2-BD59-A6C34878D82A}">
                    <a16:rowId xmlns:a16="http://schemas.microsoft.com/office/drawing/2014/main" val="1675604864"/>
                  </a:ext>
                </a:extLst>
              </a:tr>
              <a:tr h="134654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fr-FR" sz="1100">
                          <a:effectLst/>
                        </a:rPr>
                        <a:t>Respect des délais pour la soumission des rapports techniques et financiers trimestriels.</a:t>
                      </a:r>
                      <a:endParaRPr lang="fr-CM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1660" marR="4166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fr-FR" sz="1100">
                          <a:effectLst/>
                        </a:rPr>
                        <a:t>100 % des rapports soumis à temps</a:t>
                      </a:r>
                      <a:endParaRPr lang="fr-CM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1660" marR="4166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fr-FR" sz="1100">
                          <a:effectLst/>
                        </a:rPr>
                        <a:t>Obtenir une bonne complétude dans la rédaction et la promptitude dans la transmission</a:t>
                      </a:r>
                      <a:endParaRPr lang="fr-CM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1660" marR="4166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fr-FR" sz="1100">
                          <a:effectLst/>
                        </a:rPr>
                        <a:t>Journaux de soumission des rapports</a:t>
                      </a:r>
                      <a:endParaRPr lang="fr-CM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1660" marR="4166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fr-FR" sz="1100">
                          <a:effectLst/>
                        </a:rPr>
                        <a:t>Mensuelle</a:t>
                      </a:r>
                      <a:endParaRPr lang="fr-CM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1660" marR="41660" marT="0" marB="0" anchor="ctr"/>
                </a:tc>
                <a:extLst>
                  <a:ext uri="{0D108BD9-81ED-4DB2-BD59-A6C34878D82A}">
                    <a16:rowId xmlns:a16="http://schemas.microsoft.com/office/drawing/2014/main" val="1799871410"/>
                  </a:ext>
                </a:extLst>
              </a:tr>
              <a:tr h="89258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fr-FR" sz="1100">
                          <a:effectLst/>
                        </a:rPr>
                        <a:t>Pourcentage des recommandations issues des audits mises en œuvre.</a:t>
                      </a:r>
                      <a:endParaRPr lang="fr-CM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1660" marR="4166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fr-FR" sz="1100">
                          <a:effectLst/>
                        </a:rPr>
                        <a:t>100%</a:t>
                      </a:r>
                      <a:endParaRPr lang="fr-CM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1660" marR="4166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fr-FR" sz="1100">
                          <a:effectLst/>
                        </a:rPr>
                        <a:t>Mises en œuvre de toutes les recommandations</a:t>
                      </a:r>
                      <a:endParaRPr lang="fr-CM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1660" marR="4166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fr-FR" sz="1100">
                          <a:effectLst/>
                        </a:rPr>
                        <a:t>Rapports de suivi des audits</a:t>
                      </a:r>
                      <a:endParaRPr lang="fr-CM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1660" marR="4166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fr-FR" sz="1100">
                          <a:effectLst/>
                        </a:rPr>
                        <a:t>Trimestrielle</a:t>
                      </a:r>
                      <a:endParaRPr lang="fr-CM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1660" marR="41660" marT="0" marB="0" anchor="ctr"/>
                </a:tc>
                <a:extLst>
                  <a:ext uri="{0D108BD9-81ED-4DB2-BD59-A6C34878D82A}">
                    <a16:rowId xmlns:a16="http://schemas.microsoft.com/office/drawing/2014/main" val="194522732"/>
                  </a:ext>
                </a:extLst>
              </a:tr>
              <a:tr h="269595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fr-FR" sz="1000">
                          <a:effectLst/>
                        </a:rPr>
                        <a:t>Nombre de causeries éducatives menées dans le(s) district(s) de santé pour sensibiliser les populations marginalisées sur l’accès aux soins de qualité, la disponibilité, politiques de santé, CSU, etc. </a:t>
                      </a:r>
                      <a:endParaRPr lang="fr-CM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1660" marR="4166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fr-FR" sz="1000">
                          <a:effectLst/>
                        </a:rPr>
                        <a:t>T2 = 101</a:t>
                      </a:r>
                      <a:endParaRPr lang="fr-CM" sz="1100">
                        <a:effectLst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fr-FR" sz="1000">
                          <a:effectLst/>
                        </a:rPr>
                        <a:t>T3 = 201 </a:t>
                      </a:r>
                      <a:endParaRPr lang="fr-CM" sz="1100">
                        <a:effectLst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fr-FR" sz="1000">
                          <a:effectLst/>
                        </a:rPr>
                        <a:t>T4 = 201</a:t>
                      </a:r>
                      <a:endParaRPr lang="fr-CM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1660" marR="4166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fr-FR" sz="1000">
                          <a:effectLst/>
                        </a:rPr>
                        <a:t>Organiser 503 causeries éducatives dans le(s) district(s) pour sensibiliser les populations marginalisées.</a:t>
                      </a:r>
                      <a:endParaRPr lang="fr-CM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1660" marR="4166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fr-FR" sz="1000">
                          <a:effectLst/>
                        </a:rPr>
                        <a:t>Rapport d’activité</a:t>
                      </a:r>
                      <a:endParaRPr lang="fr-CM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1660" marR="4166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fr-FR" sz="1000" dirty="0">
                          <a:effectLst/>
                        </a:rPr>
                        <a:t>Mensuelle</a:t>
                      </a:r>
                      <a:endParaRPr lang="fr-CM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1660" marR="41660" marT="0" marB="0" anchor="ctr"/>
                </a:tc>
                <a:extLst>
                  <a:ext uri="{0D108BD9-81ED-4DB2-BD59-A6C34878D82A}">
                    <a16:rowId xmlns:a16="http://schemas.microsoft.com/office/drawing/2014/main" val="35586687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61855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DADCA0C-A9F6-F99C-F882-76FD30B07D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8741498"/>
              </p:ext>
            </p:extLst>
          </p:nvPr>
        </p:nvGraphicFramePr>
        <p:xfrm>
          <a:off x="357188" y="742950"/>
          <a:ext cx="8458200" cy="53721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72236">
                  <a:extLst>
                    <a:ext uri="{9D8B030D-6E8A-4147-A177-3AD203B41FA5}">
                      <a16:colId xmlns:a16="http://schemas.microsoft.com/office/drawing/2014/main" val="835890161"/>
                    </a:ext>
                  </a:extLst>
                </a:gridCol>
                <a:gridCol w="1289503">
                  <a:extLst>
                    <a:ext uri="{9D8B030D-6E8A-4147-A177-3AD203B41FA5}">
                      <a16:colId xmlns:a16="http://schemas.microsoft.com/office/drawing/2014/main" val="2578626396"/>
                    </a:ext>
                  </a:extLst>
                </a:gridCol>
                <a:gridCol w="1909401">
                  <a:extLst>
                    <a:ext uri="{9D8B030D-6E8A-4147-A177-3AD203B41FA5}">
                      <a16:colId xmlns:a16="http://schemas.microsoft.com/office/drawing/2014/main" val="2091269985"/>
                    </a:ext>
                  </a:extLst>
                </a:gridCol>
                <a:gridCol w="1972236">
                  <a:extLst>
                    <a:ext uri="{9D8B030D-6E8A-4147-A177-3AD203B41FA5}">
                      <a16:colId xmlns:a16="http://schemas.microsoft.com/office/drawing/2014/main" val="4228934114"/>
                    </a:ext>
                  </a:extLst>
                </a:gridCol>
                <a:gridCol w="1314824">
                  <a:extLst>
                    <a:ext uri="{9D8B030D-6E8A-4147-A177-3AD203B41FA5}">
                      <a16:colId xmlns:a16="http://schemas.microsoft.com/office/drawing/2014/main" val="77679333"/>
                    </a:ext>
                  </a:extLst>
                </a:gridCol>
              </a:tblGrid>
              <a:tr h="175296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fr-FR" sz="1100">
                          <a:effectLst/>
                        </a:rPr>
                        <a:t>Nombre de descentes de supervision régionales dans le(s) district(s) de santé sur la qualité des données collecté du suivi dirigé par les communautés</a:t>
                      </a:r>
                      <a:endParaRPr lang="fr-CM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fr-FR" sz="1100">
                          <a:effectLst/>
                        </a:rPr>
                        <a:t>T2 = 2</a:t>
                      </a:r>
                      <a:endParaRPr lang="fr-CM" sz="1200">
                        <a:effectLst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fr-FR" sz="1100">
                          <a:effectLst/>
                        </a:rPr>
                        <a:t>T3 = 6</a:t>
                      </a:r>
                      <a:endParaRPr lang="fr-CM" sz="1200">
                        <a:effectLst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fr-FR" sz="1100">
                          <a:effectLst/>
                        </a:rPr>
                        <a:t>T4 = 6</a:t>
                      </a:r>
                      <a:endParaRPr lang="fr-CM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fr-FR" sz="1100">
                          <a:effectLst/>
                        </a:rPr>
                        <a:t>14 supervisions régionales sont effectuées pour améliorer la qualité des données communautaires.</a:t>
                      </a:r>
                      <a:endParaRPr lang="fr-CM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fr-FR" sz="1100">
                          <a:effectLst/>
                        </a:rPr>
                        <a:t>Rapport d’activité</a:t>
                      </a:r>
                      <a:endParaRPr lang="fr-CM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fr-FR" sz="1100">
                          <a:effectLst/>
                        </a:rPr>
                        <a:t>Mensuelle</a:t>
                      </a:r>
                      <a:endParaRPr lang="fr-CM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2134393004"/>
                  </a:ext>
                </a:extLst>
              </a:tr>
              <a:tr h="200953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fr-FR" sz="1100">
                          <a:effectLst/>
                        </a:rPr>
                        <a:t>Nombre de sentinelles de surveillance communautaire actifs</a:t>
                      </a:r>
                      <a:endParaRPr lang="fr-CM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fr-FR" sz="1100">
                          <a:effectLst/>
                        </a:rPr>
                        <a:t>20</a:t>
                      </a:r>
                      <a:endParaRPr lang="fr-CM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fr-FR" sz="1100">
                          <a:effectLst/>
                        </a:rPr>
                        <a:t>100 % des sentinelles actives.</a:t>
                      </a:r>
                      <a:endParaRPr lang="fr-CM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fr-FR" sz="1100">
                          <a:effectLst/>
                        </a:rPr>
                        <a:t>Rapport d’activité des sentinelles</a:t>
                      </a:r>
                      <a:endParaRPr lang="fr-CM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fr-FR" sz="1100">
                          <a:effectLst/>
                        </a:rPr>
                        <a:t>Mensuelle</a:t>
                      </a:r>
                      <a:endParaRPr lang="fr-CM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682286868"/>
                  </a:ext>
                </a:extLst>
              </a:tr>
              <a:tr h="160959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fr-FR" sz="1100">
                          <a:effectLst/>
                        </a:rPr>
                        <a:t>Nombre de Questionnaires de suivi communautaire (CLM) rempli par sentinelle</a:t>
                      </a:r>
                      <a:endParaRPr lang="fr-CM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fr-FR" sz="1100" dirty="0">
                          <a:effectLst/>
                        </a:rPr>
                        <a:t>12 (9 en Fosa, 3 dans les Ménages)</a:t>
                      </a:r>
                      <a:endParaRPr lang="fr-CM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fr-FR" sz="1100">
                          <a:effectLst/>
                        </a:rPr>
                        <a:t>Avoir au moins 8 questionnaires bien remplis par mois à partir de la surveillance des sentinelles</a:t>
                      </a:r>
                      <a:endParaRPr lang="fr-CM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fr-FR" sz="1100">
                          <a:effectLst/>
                        </a:rPr>
                        <a:t>Questionnaires, rapport de restitution  </a:t>
                      </a:r>
                      <a:endParaRPr lang="fr-CM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fr-FR" sz="1100" dirty="0">
                          <a:effectLst/>
                        </a:rPr>
                        <a:t>Mensuelle</a:t>
                      </a:r>
                      <a:endParaRPr lang="fr-CM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37582808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56803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9BFAC42-F580-4B4C-3506-3E6554B4F8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9630494"/>
              </p:ext>
            </p:extLst>
          </p:nvPr>
        </p:nvGraphicFramePr>
        <p:xfrm>
          <a:off x="257175" y="1443038"/>
          <a:ext cx="8386762" cy="541496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55578">
                  <a:extLst>
                    <a:ext uri="{9D8B030D-6E8A-4147-A177-3AD203B41FA5}">
                      <a16:colId xmlns:a16="http://schemas.microsoft.com/office/drawing/2014/main" val="3086652263"/>
                    </a:ext>
                  </a:extLst>
                </a:gridCol>
                <a:gridCol w="1278612">
                  <a:extLst>
                    <a:ext uri="{9D8B030D-6E8A-4147-A177-3AD203B41FA5}">
                      <a16:colId xmlns:a16="http://schemas.microsoft.com/office/drawing/2014/main" val="3558458802"/>
                    </a:ext>
                  </a:extLst>
                </a:gridCol>
                <a:gridCol w="1893275">
                  <a:extLst>
                    <a:ext uri="{9D8B030D-6E8A-4147-A177-3AD203B41FA5}">
                      <a16:colId xmlns:a16="http://schemas.microsoft.com/office/drawing/2014/main" val="3688309901"/>
                    </a:ext>
                  </a:extLst>
                </a:gridCol>
                <a:gridCol w="1955578">
                  <a:extLst>
                    <a:ext uri="{9D8B030D-6E8A-4147-A177-3AD203B41FA5}">
                      <a16:colId xmlns:a16="http://schemas.microsoft.com/office/drawing/2014/main" val="3049079272"/>
                    </a:ext>
                  </a:extLst>
                </a:gridCol>
                <a:gridCol w="1303719">
                  <a:extLst>
                    <a:ext uri="{9D8B030D-6E8A-4147-A177-3AD203B41FA5}">
                      <a16:colId xmlns:a16="http://schemas.microsoft.com/office/drawing/2014/main" val="2691792989"/>
                    </a:ext>
                  </a:extLst>
                </a:gridCol>
              </a:tblGrid>
              <a:tr h="304874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fr-FR" sz="1100">
                          <a:effectLst/>
                        </a:rPr>
                        <a:t>Nombre de réunions de restitution et plaidoyer tenues avec les parties prenantes</a:t>
                      </a:r>
                      <a:endParaRPr lang="fr-CM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fr-FR" sz="1100">
                          <a:effectLst/>
                        </a:rPr>
                        <a:t>1</a:t>
                      </a:r>
                      <a:endParaRPr lang="fr-CM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fr-FR" sz="1100">
                          <a:effectLst/>
                        </a:rPr>
                        <a:t>Au moins 1 rapport de plaidoyer envoyé par trimestre.</a:t>
                      </a:r>
                      <a:endParaRPr lang="fr-CM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fr-FR" sz="1100">
                          <a:effectLst/>
                        </a:rPr>
                        <a:t>Rapport d’activité</a:t>
                      </a:r>
                      <a:endParaRPr lang="fr-CM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fr-FR" sz="1100">
                          <a:effectLst/>
                        </a:rPr>
                        <a:t>Trimestrielle</a:t>
                      </a:r>
                      <a:endParaRPr lang="fr-CM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159542145"/>
                  </a:ext>
                </a:extLst>
              </a:tr>
              <a:tr h="236621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fr-FR" sz="1100">
                          <a:effectLst/>
                        </a:rPr>
                        <a:t>Pourcentage de recommandations communautaires prises en compte par les parties prenantes</a:t>
                      </a:r>
                      <a:endParaRPr lang="fr-CM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fr-FR" sz="1100">
                          <a:effectLst/>
                        </a:rPr>
                        <a:t>25%</a:t>
                      </a:r>
                      <a:endParaRPr lang="fr-CM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fr-FR" sz="1100">
                          <a:effectLst/>
                        </a:rPr>
                        <a:t>Au moins 25 % des recommandations dans les rapports de plaidoyer sont prises en compte.</a:t>
                      </a:r>
                      <a:endParaRPr lang="fr-CM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fr-FR" sz="1100">
                          <a:effectLst/>
                        </a:rPr>
                        <a:t>Examiner les rapports de plaidoyer envoyés et Comparer les actions entreprises par les parties prenantes aux recommandations spécifiées </a:t>
                      </a:r>
                      <a:endParaRPr lang="fr-CM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fr-FR" sz="1100" dirty="0">
                          <a:effectLst/>
                        </a:rPr>
                        <a:t>Semestrielle</a:t>
                      </a:r>
                      <a:endParaRPr lang="fr-CM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1462531416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5049D07D-5002-E0BE-6716-5AA1C5861BAC}"/>
              </a:ext>
            </a:extLst>
          </p:cNvPr>
          <p:cNvSpPr txBox="1"/>
          <p:nvPr/>
        </p:nvSpPr>
        <p:spPr>
          <a:xfrm>
            <a:off x="1128713" y="342900"/>
            <a:ext cx="6229350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4000" b="1" dirty="0"/>
              <a:t>SUITE</a:t>
            </a:r>
            <a:endParaRPr lang="fr-CM" sz="4000" b="1" dirty="0"/>
          </a:p>
        </p:txBody>
      </p:sp>
    </p:spTree>
    <p:extLst>
      <p:ext uri="{BB962C8B-B14F-4D97-AF65-F5344CB8AC3E}">
        <p14:creationId xmlns:p14="http://schemas.microsoft.com/office/powerpoint/2010/main" val="966852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69CB4D1-5FAF-7BD2-62FD-8DC1502306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737" y="957262"/>
            <a:ext cx="8543925" cy="561498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C423B35-7398-ED48-B54F-1239CD0FFD8C}"/>
              </a:ext>
            </a:extLst>
          </p:cNvPr>
          <p:cNvSpPr txBox="1"/>
          <p:nvPr/>
        </p:nvSpPr>
        <p:spPr>
          <a:xfrm>
            <a:off x="1157288" y="357188"/>
            <a:ext cx="6257925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1800" b="1">
                <a:effectLst/>
                <a:latin typeface="Arial Narrow" panose="020B0606020202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DESCRIPTION DES ACTIVITES PAR LIGNE BUDGETAIRE</a:t>
            </a:r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28805649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11CFAE8-556D-17BF-3E22-0725B2E417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738" y="0"/>
            <a:ext cx="4514850" cy="456905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AD98FFE-D7CD-D5BB-8957-2841F315DE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3475" y="142876"/>
            <a:ext cx="3529013" cy="442617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DB94A61-2A1F-7A30-0F67-7AF73311F247}"/>
              </a:ext>
            </a:extLst>
          </p:cNvPr>
          <p:cNvSpPr txBox="1"/>
          <p:nvPr/>
        </p:nvSpPr>
        <p:spPr>
          <a:xfrm>
            <a:off x="0" y="5214938"/>
            <a:ext cx="8351519" cy="95410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2800" b="1" dirty="0">
                <a:latin typeface="Arial" panose="020B0604020202020204" pitchFamily="34" charset="0"/>
                <a:cs typeface="Arial" panose="020B0604020202020204" pitchFamily="34" charset="0"/>
              </a:rPr>
              <a:t>Formation des sentinelles dans les locaux de APSCA</a:t>
            </a:r>
            <a:endParaRPr lang="fr-CM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39800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9605908-A49E-43CF-911E-893CB75D35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25" y="1257300"/>
            <a:ext cx="7986713" cy="4114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EC1E35D-6531-02BA-9A08-983465E98276}"/>
              </a:ext>
            </a:extLst>
          </p:cNvPr>
          <p:cNvSpPr txBox="1"/>
          <p:nvPr/>
        </p:nvSpPr>
        <p:spPr>
          <a:xfrm>
            <a:off x="657225" y="5686425"/>
            <a:ext cx="7543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/>
              <a:t>Photo de famille avec le DRSP du Sud l’hors de la formation des formateurs sur la SCB à Ebolowa</a:t>
            </a:r>
            <a:endParaRPr lang="fr-CM" b="1" dirty="0"/>
          </a:p>
        </p:txBody>
      </p:sp>
    </p:spTree>
    <p:extLst>
      <p:ext uri="{BB962C8B-B14F-4D97-AF65-F5344CB8AC3E}">
        <p14:creationId xmlns:p14="http://schemas.microsoft.com/office/powerpoint/2010/main" val="34081350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EDD62-6452-9A70-82B6-229428946A0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MERCI</a:t>
            </a:r>
            <a:endParaRPr lang="fr-CM" dirty="0"/>
          </a:p>
        </p:txBody>
      </p:sp>
    </p:spTree>
    <p:extLst>
      <p:ext uri="{BB962C8B-B14F-4D97-AF65-F5344CB8AC3E}">
        <p14:creationId xmlns:p14="http://schemas.microsoft.com/office/powerpoint/2010/main" val="12622380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</TotalTime>
  <Words>1142</Words>
  <Application>Microsoft Office PowerPoint</Application>
  <PresentationFormat>On-screen Show (4:3)</PresentationFormat>
  <Paragraphs>173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Aptos</vt:lpstr>
      <vt:lpstr>Arial</vt:lpstr>
      <vt:lpstr>Arial Black</vt:lpstr>
      <vt:lpstr>Arial Narrow</vt:lpstr>
      <vt:lpstr>Calibri</vt:lpstr>
      <vt:lpstr>Times New Roman</vt:lpstr>
      <vt:lpstr>Wingdings</vt:lpstr>
      <vt:lpstr>Office Theme</vt:lpstr>
      <vt:lpstr>Présentation du Projet RSS  C19RM </vt:lpstr>
      <vt:lpstr>CONTEXTE  ET JUSTIFICATIFS 1/3</vt:lpstr>
      <vt:lpstr>CONTEXTE  ET JUSTIFICATIFS 2/3</vt:lpstr>
      <vt:lpstr>CONTEXTE  ET JUSTIFICATIFS 3/3</vt:lpstr>
      <vt:lpstr>OBJECTIF GÉNÉRAL </vt:lpstr>
      <vt:lpstr>Objectifs spécifiques  1/2 </vt:lpstr>
      <vt:lpstr>Objectifs Spécifiques 2/2 </vt:lpstr>
      <vt:lpstr>DURÉE </vt:lpstr>
      <vt:lpstr>Résumé des activités </vt:lpstr>
      <vt:lpstr>Suivi dirigés et plaidoyer par les communautés( CLM) </vt:lpstr>
      <vt:lpstr>PowerPoint Presentation</vt:lpstr>
      <vt:lpstr>PowerPoint Presentation</vt:lpstr>
      <vt:lpstr>PowerPoint Presentation</vt:lpstr>
      <vt:lpstr> 2. Renforcement du système communautaires- Suivi et Evaluation </vt:lpstr>
      <vt:lpstr>3. Préparation et Riposte communautaires aux épidémies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MERCI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du Projet RSS  C19RM</dc:title>
  <dc:subject/>
  <dc:creator>Sthéphanie</dc:creator>
  <cp:keywords/>
  <dc:description>generated using python-pptx</dc:description>
  <cp:lastModifiedBy>cyrille ngbwa</cp:lastModifiedBy>
  <cp:revision>8</cp:revision>
  <dcterms:created xsi:type="dcterms:W3CDTF">2013-01-27T09:14:16Z</dcterms:created>
  <dcterms:modified xsi:type="dcterms:W3CDTF">2025-08-28T19:14:22Z</dcterms:modified>
  <cp:category/>
</cp:coreProperties>
</file>